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notesSlides/notesSlide2.xml" ContentType="application/vnd.openxmlformats-officedocument.presentationml.notesSlide+xml"/>
  <Override PartName="/ppt/ink/ink2.xml" ContentType="application/inkml+xml"/>
  <Override PartName="/ppt/notesSlides/notesSlide3.xml" ContentType="application/vnd.openxmlformats-officedocument.presentationml.notesSlide+xml"/>
  <Override PartName="/ppt/ink/ink3.xml" ContentType="application/inkml+xml"/>
  <Override PartName="/ppt/ink/ink4.xml" ContentType="application/inkml+xml"/>
  <Override PartName="/ppt/ink/ink5.xml" ContentType="application/inkml+xml"/>
  <Override PartName="/ppt/notesSlides/notesSlide4.xml" ContentType="application/vnd.openxmlformats-officedocument.presentationml.notesSlide+xml"/>
  <Override PartName="/ppt/ink/ink6.xml" ContentType="application/inkml+xml"/>
  <Override PartName="/ppt/notesSlides/notesSlide5.xml" ContentType="application/vnd.openxmlformats-officedocument.presentationml.notesSlide+xml"/>
  <Override PartName="/ppt/ink/ink7.xml" ContentType="application/inkml+xml"/>
  <Override PartName="/ppt/notesSlides/notesSlide6.xml" ContentType="application/vnd.openxmlformats-officedocument.presentationml.notesSlide+xml"/>
  <Override PartName="/ppt/ink/ink8.xml" ContentType="application/inkml+xml"/>
  <Override PartName="/ppt/notesSlides/notesSlide7.xml" ContentType="application/vnd.openxmlformats-officedocument.presentationml.notesSlide+xml"/>
  <Override PartName="/ppt/ink/ink9.xml" ContentType="application/inkml+xml"/>
  <Override PartName="/ppt/comments/comment1.xml" ContentType="application/vnd.openxmlformats-officedocument.presentationml.comments+xml"/>
  <Override PartName="/ppt/notesSlides/notesSlide8.xml" ContentType="application/vnd.openxmlformats-officedocument.presentationml.notesSlide+xml"/>
  <Override PartName="/ppt/ink/ink10.xml" ContentType="application/inkml+xml"/>
  <Override PartName="/ppt/notesSlides/notesSlide9.xml" ContentType="application/vnd.openxmlformats-officedocument.presentationml.notesSlide+xml"/>
  <Override PartName="/ppt/ink/ink11.xml" ContentType="application/inkml+xml"/>
  <Override PartName="/ppt/ink/ink12.xml" ContentType="application/inkml+xml"/>
  <Override PartName="/ppt/notesSlides/notesSlide10.xml" ContentType="application/vnd.openxmlformats-officedocument.presentationml.notesSlide+xml"/>
  <Override PartName="/ppt/ink/ink1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67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9144000" cy="5143500" type="screen16x9"/>
  <p:notesSz cx="5143500" cy="9144000"/>
  <p:embeddedFontLst>
    <p:embeddedFont>
      <p:font typeface="Dela Gothic One" panose="020B0604020202020204" charset="-128"/>
      <p:regular r:id="rId14"/>
    </p:embeddedFont>
    <p:embeddedFont>
      <p:font typeface="DM Sans" pitchFamily="2" charset="0"/>
      <p:regular r:id="rId15"/>
      <p:bold r:id="rId16"/>
      <p:italic r:id="rId17"/>
      <p:boldItalic r:id="rId18"/>
    </p:embeddedFont>
    <p:embeddedFont>
      <p:font typeface="DM Sans Bold" charset="0"/>
      <p:regular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tharv Singh" initials="AS" lastIdx="1" clrIdx="0">
    <p:extLst>
      <p:ext uri="{19B8F6BF-5375-455C-9EA6-DF929625EA0E}">
        <p15:presenceInfo xmlns:p15="http://schemas.microsoft.com/office/powerpoint/2012/main" userId="9de7971c288b58e1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59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viewProps" Target="viewProp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7-17T10:37:53.737" idx="1">
    <p:pos x="4534" y="1476"/>
    <p:text/>
    <p:extLst>
      <p:ext uri="{C676402C-5697-4E1C-873F-D02D1690AC5C}">
        <p15:threadingInfo xmlns:p15="http://schemas.microsoft.com/office/powerpoint/2012/main" timeZoneBias="-330"/>
      </p:ext>
    </p:extLst>
  </p:cm>
</p:cmLst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6T08:29:54.282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7 270 24575,'1239'0'0,"-1227"0"0,-7-1 0,0 1 0,0 0 0,-1 0 0,1 1 0,0-1 0,0 1 0,6 2 0,-10-3 0,-1 0 0,0 1 0,1-1 0,-1 0 0,0 0 0,1 0 0,-1 1 0,0-1 0,1 0 0,-1 0 0,0 1 0,1-1 0,-1 0 0,0 0 0,0 1 0,0-1 0,1 0 0,-1 1 0,0-1 0,0 0 0,0 1 0,0-1 0,1 0 0,-1 1 0,0-1 0,0 1 0,0-1 0,0 0 0,0 1 0,0-1 0,0 1 0,0-1 0,0 0 0,0 1 0,0-1 0,-1 0 0,1 1 0,0-1 0,0 0 0,0 1 0,0-1 0,-1 0 0,1 1 0,-15 15 0,-1-6 0,0 0 0,-1-1 0,0-1 0,0 0 0,-1-2 0,0 0 0,0 0 0,-27 3 0,-157 13 0,-431-16 0,497-7 0,109 0 0,-79-3 0,100 1 0,12 1 0,21-2 0,538-23 0,-199 16 0,468 2 0,-489 12 0,-91-3 0,-762-22 0,437 15 0,-4 0 0,-74-17 0,66 4 0,-149-59 0,230 79 0,1 0 0,0 0 0,0-1 0,-1 1 0,1-1 0,0 1 0,0-1 0,-1 0 0,1 1 0,0-1 0,0 0 0,0 0 0,0 0 0,0 0 0,0 0 0,0 0 0,1 0 0,-1 0 0,0 0 0,0 0 0,1 0 0,-1 0 0,1-1 0,-1 1 0,1 0 0,-1 0 0,1-1 0,0 1 0,0 0 0,0-1 0,-1 1 0,1 0 0,0-1 0,1 1 0,-1 0 0,0-1 0,0 1 0,1 0 0,-1-1 0,0 1 0,1 0 0,-1 0 0,1 0 0,0-1 0,-1 1 0,1 0 0,0 0 0,0 0 0,1-2 0,7-6 0,0-1 0,1 2 0,0-1 0,14-9 0,-11 9 0,-1 0 0,1 1 0,0 1 0,1 0 0,-1 0 0,1 2 0,1-1 0,-1 2 0,1 0 0,28-3 0,-17 4 0,1 1 0,0 2 0,0 0 0,45 8 0,-46-1 0,-1 0 0,-1 2 0,0 0 0,0 2 0,-1 1 0,33 21 0,47 22 0,-26-18 0,-30-14 0,80 28 0,-107-47 0,-1 0 0,1-1 0,0-1 0,0-1 0,0-1 0,0-1 0,0 0 0,23-6 0,-40 7 0,1-1 0,-1 0 0,1 0 0,-1-1 0,1 1 0,-1-1 0,0 1 0,4-3 0,-7 3 0,0 1 0,1 0 0,-1 0 0,0 0 0,0 0 0,0 0 0,0-1 0,1 1 0,-1 0 0,0 0 0,0 0 0,0-1 0,0 1 0,1 0 0,-1 0 0,0 0 0,0-1 0,0 1 0,0 0 0,0 0 0,0-1 0,0 1 0,0 0 0,0 0 0,0-1 0,0 1 0,0 0 0,0 0 0,0-1 0,0 1 0,0 0 0,0 0 0,0-1 0,0 1 0,0 0 0,-1 0 0,1-1 0,0 1 0,0 0 0,-20-7 0,-18 3-682,-39 0-1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7-17T04:24:47.982"/>
    </inkml:context>
    <inkml:brush xml:id="br0">
      <inkml:brushProperty name="width" value="0.35" units="cm"/>
      <inkml:brushProperty name="height" value="2.1" units="cm"/>
      <inkml:brushProperty name="ignorePressure" value="1"/>
      <inkml:brushProperty name="inkEffects" value="pencil"/>
    </inkml:brush>
  </inkml:definitions>
  <inkml:trace contextRef="#ctx0" brushRef="#br0">1 0,'0'0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6T08:30:06.012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0 52 24575,'881'0'0,"-523"-18"0,-108 2 0,-162 14 0,163 17 0,-191-10 0,102-6 0,-63-1 0,-75 1 0,43-8 0,0 0 0,-15 3 0,-36 3 0,0 1 0,0 1 0,0 0 0,0 1 0,0 1 0,0 0 0,0 1 0,-1 1 0,1 0 0,20 7 0,-30-7 0,-1 0 0,1-1 0,-1 2 0,0-1 0,1 1 0,-1-1 0,-1 2 0,1-1 0,-1 0 0,1 1 0,6 10 0,-9-12 0,0 0 0,-1 0 0,1 1 0,-1-1 0,0 1 0,1-1 0,-2 1 0,1-1 0,0 1 0,-1 0 0,1-1 0,-1 1 0,0 0 0,0-1 0,-1 1 0,1 0 0,-1-1 0,0 1 0,0-1 0,0 1 0,-3 5 0,1-3 0,-1 0 0,1 0 0,-1 0 0,-1-1 0,1 0 0,-1 0 0,0 0 0,0 0 0,0-1 0,0 0 0,-1 0 0,0 0 0,0-1 0,0 0 0,0 0 0,-1 0 0,-9 2 0,-5 0 0,0-1 0,0 0 0,0-2 0,-28 0 0,-31-1 0,-83-9 0,122 3 0,0-2 0,1-2 0,-74-25 0,94 28 0,-1 2 0,1 0 0,-1 1 0,0 1 0,0 1 0,0 1 0,-25 4 0,-14-2 0,-1387-2 0,1427 1 129,-35 7 0,13-2-1752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7-17T04:55:10.568"/>
    </inkml:context>
    <inkml:brush xml:id="br0">
      <inkml:brushProperty name="width" value="0.35" units="cm"/>
      <inkml:brushProperty name="height" value="2.1" units="cm"/>
      <inkml:brushProperty name="ignorePressure" value="1"/>
      <inkml:brushProperty name="inkEffects" value="pencil"/>
    </inkml:brush>
  </inkml:definitions>
  <inkml:trace contextRef="#ctx0" brushRef="#br0">2318 0,'3'3,"-2"2,-26 8,-48 9,-33 7,-28 2,-12-4,2-8,7-6,13-5,13-2,5 3,9-2,11 0,7 0,8 0,13-2,13-1,11-2,8-1,-5 0,-5-1,-14 0,-10 2,-12 2,-8 0,-1-1,7-1,13 0,14-2,12 1,8-1,6-4,3 0,5-3,4-4,4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7T04:55:58.362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2832 413 4915,'-186'-1'9339,"-387"10"-4381,467 2-4728,-145 34 0,30-3-242,61-19 12,-302 5 0,146-27-86,-102-3-1970,411 2 2108,-1-1 0,1 0 0,0 0 0,-1-1 0,1 0 0,-8-3 0,14 5-12,0 0-1,0-1 1,0 1-1,0-1 1,0 1-1,0-1 1,0 0-1,0 1 1,0-1-1,0 0 1,0 0-1,0 1 1,0-1-1,1 0 1,-1 0-1,0 0 1,1 0-1,-1 0 1,0 0-1,1 0 1,-1 0-1,1-1 1,0 1-1,-1 0 1,1 0-1,0 0 1,0 0 0,0-1-1,0 1 1,0 0-1,0 0 1,0 0-1,0-1 1,0 1-1,0 0 1,1 0-1,-1 0 1,1 0-1,-1 0 1,1 0-1,-1-1 1,1 1-1,-1 0 1,2-1-1,7-9-55,1 1 1,0-1-1,0 2 0,1 0 1,0 0-1,1 1 0,0 0 0,17-7 1,-14 6-44,130-70-835,162-63-1,-28 44-1524,-112 44 305,-138 44 1195,0 2 0,1 1 0,1 1 0,48-2 0,9 6 1583,70 4-511,81 2 974,-81 8 4102,20 18-930,-121-18-4417,0-3 0,104 4-1,-93-14 271,31-1-3615,-34 5 5789,-57-2-2224,-1 1-1,0 0 1,0 0-1,0 1 1,0 0-1,0 0 1,0 0-1,-1 1 1,12 8-1,-1 1-111,-1 1 0,18 18 0,-20-17 10,0-1 0,-1 2 0,-1-1 0,0 2 0,18 33 0,-30-48 0,1-1 0,0 1 0,-1-1 0,1 1 0,-1 0 0,0-1 0,1 1 0,-1 0 0,0-1 0,0 1 0,0 0 0,0-1 0,-1 1 0,1 0 0,0 0 0,-1-1 0,1 1 0,-1-1 0,1 1 0,-1-1 0,0 1 0,-1 2 0,-1-1 0,1 0 0,-1-1 0,0 1 0,1 0 0,-2-1 0,1 0 0,0 1 0,0-1 0,-7 2 0,-1 1 0,0-1 0,-1 0 0,0-1 0,0 0 0,-21 2 0,-74-2-53,-47 5-2036,-265 23-4136,-1-32 2814,168-1 5365,123 0-2075,-147 4-91,-100 30-2935,152-25 1506,13-27 13156,203 14-10921,6 3-459,0 1 0,0-1 0,-1 1 0,1-1 0,1 0 0,-1 0 0,0 0 0,1 0 0,0-1 0,0 1 1,0 0-1,0 0 0,0-1 0,0 1 0,1-1 0,0 1 0,0 0 0,0-1 0,0 1 0,1-4 0,-1 5-135,1 0 0,-1 0 0,1 0 1,0 0-1,-1 0 0,1 0 0,0 1 0,0-1 0,0 0 0,1 1 0,-1-1 0,0 1 0,1-1 1,-1 1-1,1-1 0,2-1 0,32-17-25,-28 17 8,81-35-213,1 4-1,2 4 0,98-18 1,289-35-991,-306 57 512,-123 18 412,57-7-8175,-104 15 8601,1 0-1,-1 0 1,0 1 0,0-1 0,1 1 0,-1 0 0,0 0-1,0 0 1,0 0 0,0 0 0,0 1 0,-1 0 0,1-1 0,5 5-1,21 10 1586,-1-8-1687,0-2 0,1-1 0,0-1 0,52 0 1,-12-1 129,86 15 527,-90-10 928,1-1 3449,-43-3-4742,-23-4-318,0 0 1,0 1-1,0-1 0,0 0 0,0 0 0,0 0 0,0 0 1,0 0-1,0 0 0,0 0 0,0 0 0,0 1 0,0-1 1,0 0-1,0 0 0,1 0 0,-1 0 0,0 0 0,0 0 1,0 0-1,0 1 0,-1-1 0,1 0 0,0 0 0,0 0 1,0 0-1,0 0 0,0 0 0,0 0 0,0 1 0,0-1 1,0 0-1,0 0 0,0 0 0,0 0 0,0 0 0,0 0 1,0 0-1,-1 0 0,1 0 0,0 1 0,0-1 0,0 0 1,0 0-1,0 0 0,0 0 0,0 0 0,0 0 0,-1 0 1,1 0-1,0 0 0,0 0 0,0 0 0,0 0 0,0 0 1,0 0-1,0 0 0,-1 0 0,1 0 0,0 0 0,0 0 1,0 0-1,0 0 0,0 0 0,0 0 0,0 0 0,-1 0 1,1 0-1,0-1 0,-47 9-69,33-6 100,-588 61-695,224-28-113,332-31 655,1 3 0,-1 1 1,2 2-1,-1 2 0,-79 33 1,101-36 817,0 0 1,-30 5-1,15-4-626,-56 16-87,-1-4 0,0-5 0,-180 10 1,245-27 50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6T08:30:12.887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220 1 24570,'-220'389'0,"2575"-389"0,-2135-389 0,-2575 389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6T08:30:23.113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1 43 24575,'1297'0'0,"-1281"1"0,0-2 0,1 0 0,-1-1 0,0 0 0,0-1 0,30-11 0,-23 8 0,1 1 0,-1 1 0,1 1 0,0 1 0,-1 1 0,36 4 0,-3-2 0,-22-1 0,420 16 0,-245-10 0,-147-7 0,113 12 0,-136-6 0,-25-4 0,0 1 0,1 0 0,-1 1 0,0 1 0,-1 0 0,26 12 0,-5 0 0,-21-10 0,-1 0 0,0 0 0,0 1 0,0 1 0,12 11 0,-21-17 0,-1 0 0,1 1 0,-1 0 0,0-1 0,0 1 0,0 0 0,0 0 0,-1 0 0,1 0 0,-1 1 0,0-1 0,0 0 0,0 1 0,0-1 0,-1 0 0,1 1 0,-1-1 0,0 1 0,0-1 0,0 1 0,0-1 0,-1 1 0,1-1 0,-1 0 0,-2 7 0,0-4 0,1-1 0,-1 0 0,0 0 0,0 0 0,0 0 0,-1 0 0,0-1 0,0 1 0,-6 4 0,-46 35 0,40-33 0,10-7 0,-1-1 0,1 1 0,0-2 0,-1 1 0,0-1 0,0 0 0,1 0 0,-1-1 0,0 0 0,0 0 0,-1 0 0,1-1 0,0 0 0,-9-2 0,-14-2 0,1-1 0,-31-10 0,41 10 0,-206-65 0,157 48 0,51 17 0,0 1 0,-1 0 0,1 2 0,-1 0 0,0 1 0,-28 2 0,-110 20 0,17-2 0,-164-15 0,168 13 0,-487-14 0,320-5 0,294 2-227,-1 0-1,1 1 1,-1 0-1,1 0 1,-11 3-1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6T08:30:35.191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81 0 24564,'-80'242'0,"2410"-242"0,-2249-242 0,-2412 242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6T08:30:45.006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3101 175 24562,'-1'7'0,"-3"0"0,-2 0 0,-2 0 0,-3 0 0,-2-1 0,-2 1 0,-3 0 0,-2-1 0,-2 0 0,-3 1 0,-1-1 0,-3 0 0,-2 0 0,-1 0 0,-3-1 0,-2 1 0,-2-1 0,-1 0 0,-2 0 0,-2 0 0,-2 0 0,-1-1 0,-1 0 0,-2 0 0,-1 0 0,-2-1 0,-1 1 0,0-1 0,-2-1 0,-1 1 0,0-1 0,-1 0 0,-1 0 0,-1-1 0,0 0 0,0 0 0,-1 0 0,1-1 0,-1 1 0,0-2 0,0 1 0,1-1 0,-1 0 0,1 0 0,1 0 0,0-1 0,1 0 0,0 0 0,2-1 0,0 1 0,1-1 0,1-1 0,2 1 0,1-1 0,1 0 0,1 0 0,2 0 0,2-1 0,1 0 0,2 0 0,1 0 0,3 0 0,1-1 0,2 1 0,2-1 0,2 0 0,3 0 0,1 0 0,3-1 0,2 1 0,2 0 0,2-1 0,3 0 0,2 1 0,2-1 0,3 0 0,2 0 0,2 0 0,3 0 0,2 1 0,3-1 0,2 0 0,2 0 0,3 0 0,2 1 0,2-1 0,3 0 0,2 1 0,2-1 0,2 1 0,3 0 0,1 0 0,3 0 0,2 0 0,2 0 0,2 1 0,1 0 0,3-1 0,1 2 0,2-1 0,1 0 0,2 1 0,2 0 0,1 0 0,1 0 0,1 1 0,2-1 0,1 1 0,1 1 0,0-1 0,2 1 0,0 0 0,1 0 0,0 1 0,1-1 0,1 1 0,-1 1 0,1-1 0,0 1 0,0 0 0,-1 1 0,1-1 0,-1 1 0,0 1 0,0-1 0,-1 1 0,-1 0 0,-1 0 0,0 1 0,-1-1 0,-2 1 0,0 1 0,-1-1 0,-2 1 0,-1 0 0,-2 0 0,-1 0 0,-1 1 0,-2 0 0,-2-1 0,-2 2 0,-1-1 0,-2 0 0,-2 1 0,-3 0 0,-1 0 0,-2 0 0,-3 0 0,-1 0 0,-3 1 0,-2-1 0,-2 1 0,-3 0 0,-2-1 0,-2 1 0,-3 0 0,-2 0 0,-2 0 0,-3-1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6T08:30:51.149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2865 133 24575,'-4'6'0,"0"0"0,0 0 0,0 0 0,1 0 0,0 1 0,0-1 0,-2 12 0,-4 5 0,-9 25 0,13-32 0,-1 0 0,-1-1 0,-10 19 0,15-32 0,0 1 0,0-1 0,0 1 0,-1-1 0,0 0 0,1 0 0,-1 0 0,0 0 0,0 0 0,0-1 0,0 1 0,0-1 0,0 0 0,0 0 0,0 0 0,-1 0 0,-3 0 0,-9 1 0,1-1 0,-24-1 0,21 0 0,-49 0 0,-129-19 0,166 17 0,1 0 0,-1 2 0,1 1 0,-32 5 0,-17 1 0,-485-1 0,350-7 0,-124-9 0,-17 1 0,292 6 0,1-3 0,-76-17 0,-3 0 0,62 15 0,-49-7 0,125 14 0,-1 1 0,0-1 0,0 1 0,1-1 0,-1 0 0,0 0 0,1 0 0,-1-1 0,1 1 0,-1 0 0,-3-4 0,6 4 0,-1 0 0,1 0 0,-1 0 0,1 0 0,-1 0 0,1 0 0,0 0 0,0 0 0,-1 0 0,1 0 0,0 0 0,0 0 0,0 0 0,0 0 0,0 0 0,0 0 0,0 0 0,1 0 0,-1 0 0,0 0 0,1-1 0,-1 1 0,0 1 0,1-1 0,-1 0 0,1 0 0,0 0 0,-1 0 0,1 0 0,0 0 0,0 0 0,12-15 0,0 0 0,1 1 0,1 1 0,0 0 0,1 2 0,1-1 0,0 2 0,0 0 0,29-12 0,-14 8 0,1 2 0,0 1 0,2 2 0,59-11 0,23 10 0,224 7 0,-333 4 0,114 8 0,155 31 0,-239-33 0,88 6 0,-62-8 0,309 4 0,-256-9 0,-108 0 0,0 1 0,1-2 0,-1 1 0,0-1 0,0-1 0,0 0 0,-1 0 0,1 0 0,0-1 0,10-7 0,-6 4 0,-3 3 0,0 0 0,0 1 0,0 0 0,1 1 0,-1 0 0,1 0 0,-1 1 0,13 1 0,9 0 0,44 8 0,-11 9 337,-52-13-763,1 0 1,-1 0-1,21 2 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6T08:30:55.742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0 71 24575,'1170'0'0,"-934"9"0,16 1 0,-138-9 0,97-3 0,-139-7 0,20-1 0,-67 8 0,1-1 0,47-13 0,26-4 0,262-7 0,-354 27 0,4-1 0,0 1 0,-1 0 0,1 1 0,20 3 0,-28-3 0,-1-1 0,0 1 0,0 0 0,0-1 0,0 1 0,0 0 0,0 0 0,0 1 0,-1-1 0,1 0 0,0 1 0,-1-1 0,1 1 0,0-1 0,-1 1 0,0 0 0,1 0 0,-1 0 0,0-1 0,0 1 0,0 0 0,0 0 0,-1 0 0,1 1 0,0-1 0,-1 0 0,0 0 0,1 0 0,-1 4 0,0 0 0,0 0 0,0 0 0,0 0 0,-1-1 0,0 1 0,0 0 0,0 0 0,-1-1 0,0 1 0,0-1 0,0 1 0,-1-1 0,0 0 0,0 0 0,-4 5 0,2-4 0,-1 0 0,0-1 0,0 0 0,0 0 0,0-1 0,-1 0 0,0 0 0,0 0 0,0-1 0,-14 5 0,-26 6 0,-1-2 0,0-2 0,0-2 0,-57 2 0,-200-9 0,151-3 0,37 1 0,-127 2 0,83 17 0,7-2 0,-161-12 0,214-4 0,83 1 0,-1 0 0,-21 6 0,-34 3 0,62-10 0,-250-1 0,259 1-124,0 0 0,0-1 0,0 1 0,0-1 0,0 1 0,0-1-1,0 0 1,0 0 0,1 0 0,-6-3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6T08:30:56.476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1 1 24575,'0'0'-8191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6T08:31:01.139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2662 99 24575,'12'28'0,"-2"1"0,-1 1 0,-1 0 0,5 37 0,-2-13 0,-10-49 0,0 1 0,0 0 0,0-1 0,-1 1 0,0 0 0,0 0 0,0-1 0,-1 1 0,1 0 0,-3 6 0,1-8 0,1 0 0,-1-1 0,0 1 0,0-1 0,-1 1 0,1-1 0,0 0 0,-1 0 0,0 0 0,0 0 0,0 0 0,0-1 0,0 0 0,-1 1 0,-4 1 0,-4 2 0,-1 0 0,1-2 0,-1 1 0,1-2 0,-1 0 0,0 0 0,-17 1 0,-97-1 0,85-3 0,-47-2 0,-150-24 0,75 11 0,103 11 0,-90-16 0,63 4 0,-132-8 0,-90 16 0,272 7 0,-218-1 0,-446-12 0,628 13 0,114-31 0,42-23 0,91-56 0,-138 91 0,1 2 0,1 2 0,45-15 0,-15 11 0,1 3 0,1 3 0,1 3 0,113-4 0,-121 19 0,0 2 0,-1 4 0,106 29 0,-47-9 0,-109-28 0,45 12 0,1-2 0,0-4 0,107 4 0,155-15 0,-207 4 0,-94 0 0,1 1 0,-1 1 0,1 1 0,17 5 0,22 6 0,23 8-1365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958493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A0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customXml" Target="../ink/ink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svg"/><Relationship Id="rId11" Type="http://schemas.openxmlformats.org/officeDocument/2006/relationships/image" Target="../media/image11.png"/><Relationship Id="rId5" Type="http://schemas.openxmlformats.org/officeDocument/2006/relationships/image" Target="../media/image7.png"/><Relationship Id="rId4" Type="http://schemas.openxmlformats.org/officeDocument/2006/relationships/image" Target="../media/image6.svg"/><Relationship Id="rId9" Type="http://schemas.openxmlformats.org/officeDocument/2006/relationships/customXml" Target="../ink/ink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2.png"/><Relationship Id="rId7" Type="http://schemas.openxmlformats.org/officeDocument/2006/relationships/customXml" Target="../ink/ink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customXml" Target="../ink/ink5.xml"/><Relationship Id="rId4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0.png"/><Relationship Id="rId4" Type="http://schemas.openxmlformats.org/officeDocument/2006/relationships/customXml" Target="../ink/ink6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customXml" Target="../ink/ink7.xml"/><Relationship Id="rId3" Type="http://schemas.openxmlformats.org/officeDocument/2006/relationships/image" Target="../media/image21.jpeg"/><Relationship Id="rId7" Type="http://schemas.openxmlformats.org/officeDocument/2006/relationships/image" Target="../media/image25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svg"/><Relationship Id="rId4" Type="http://schemas.openxmlformats.org/officeDocument/2006/relationships/image" Target="../media/image22.png"/><Relationship Id="rId9" Type="http://schemas.openxmlformats.org/officeDocument/2006/relationships/image" Target="../media/image24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8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jpeg"/><Relationship Id="rId5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comments" Target="../comments/comment1.xml"/><Relationship Id="rId3" Type="http://schemas.openxmlformats.org/officeDocument/2006/relationships/image" Target="../media/image27.png"/><Relationship Id="rId7" Type="http://schemas.openxmlformats.org/officeDocument/2006/relationships/image" Target="../media/image29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0.png"/><Relationship Id="rId5" Type="http://schemas.openxmlformats.org/officeDocument/2006/relationships/customXml" Target="../ink/ink9.xml"/><Relationship Id="rId4" Type="http://schemas.openxmlformats.org/officeDocument/2006/relationships/image" Target="../media/image28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0.png"/><Relationship Id="rId4" Type="http://schemas.openxmlformats.org/officeDocument/2006/relationships/customXml" Target="../ink/ink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ustomXml" Target="../ink/ink1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0.png"/><Relationship Id="rId5" Type="http://schemas.openxmlformats.org/officeDocument/2006/relationships/customXml" Target="../ink/ink12.xml"/><Relationship Id="rId4" Type="http://schemas.openxmlformats.org/officeDocument/2006/relationships/image" Target="../media/image3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3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02943" y="960909"/>
            <a:ext cx="4767114" cy="2227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Design and Implementation of a Vending Machine Controller using Verilog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3902942" y="3391197"/>
            <a:ext cx="4978839" cy="568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>
              <a:lnSpc>
                <a:spcPct val="133000"/>
              </a:lnSpc>
            </a:pPr>
            <a:r>
              <a:rPr lang="en-US" sz="1050" b="1" dirty="0">
                <a:solidFill>
                  <a:srgbClr val="FFE5E5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Presented By:</a:t>
            </a:r>
            <a:r>
              <a:rPr lang="en-US" sz="10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Animesh Jaiswal  |  Atharv Singh   |  Shikhar Shukla </a:t>
            </a:r>
          </a:p>
          <a:p>
            <a:pPr>
              <a:lnSpc>
                <a:spcPct val="133000"/>
              </a:lnSpc>
            </a:pPr>
            <a:r>
              <a:rPr lang="en-US" sz="10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Department of Electronics &amp; Communication Engineering</a:t>
            </a:r>
          </a:p>
          <a:p>
            <a:pPr>
              <a:lnSpc>
                <a:spcPct val="133000"/>
              </a:lnSpc>
            </a:pPr>
            <a:r>
              <a:rPr lang="en-US" sz="10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Guided By: Mr. Manoj Srivastava</a:t>
            </a:r>
          </a:p>
          <a:p>
            <a:pPr>
              <a:lnSpc>
                <a:spcPct val="133000"/>
              </a:lnSpc>
            </a:pP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3902943" y="4131554"/>
            <a:ext cx="1277913" cy="205680"/>
          </a:xfrm>
          <a:prstGeom prst="roundRect">
            <a:avLst>
              <a:gd name="adj" fmla="val 22121"/>
            </a:avLst>
          </a:prstGeom>
          <a:solidFill>
            <a:srgbClr val="460707"/>
          </a:solidFill>
          <a:ln/>
        </p:spPr>
      </p:sp>
      <p:sp>
        <p:nvSpPr>
          <p:cNvPr id="6" name="Text 3"/>
          <p:cNvSpPr/>
          <p:nvPr/>
        </p:nvSpPr>
        <p:spPr>
          <a:xfrm>
            <a:off x="3984129" y="4172109"/>
            <a:ext cx="1572741" cy="1245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VLSI DESIGN PROJECT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5248498" y="4131554"/>
            <a:ext cx="1583680" cy="205680"/>
          </a:xfrm>
          <a:prstGeom prst="roundRect">
            <a:avLst>
              <a:gd name="adj" fmla="val 22121"/>
            </a:avLst>
          </a:prstGeom>
          <a:noFill/>
          <a:ln w="4763">
            <a:solidFill>
              <a:srgbClr val="C9131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329684" y="4180901"/>
            <a:ext cx="1878509" cy="1245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C9131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MOORE FSM ARCHITECTURE</a:t>
            </a:r>
            <a:endParaRPr lang="en-US" sz="85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824748AD-A92C-7F76-CB59-0E4D0B9E1090}"/>
                  </a:ext>
                </a:extLst>
              </p14:cNvPr>
              <p14:cNvContentPartPr/>
              <p14:nvPr/>
            </p14:nvContentPartPr>
            <p14:xfrm>
              <a:off x="8112547" y="4864616"/>
              <a:ext cx="892080" cy="14544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824748AD-A92C-7F76-CB59-0E4D0B9E109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049907" y="4801976"/>
                <a:ext cx="1017720" cy="2710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241914" y="425128"/>
            <a:ext cx="4767114" cy="7654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What is a Vending Machine Controller?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241914" y="1320774"/>
            <a:ext cx="4639368" cy="999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digital system that </a:t>
            </a:r>
            <a:r>
              <a:rPr lang="en-US" sz="900" b="1" dirty="0">
                <a:solidFill>
                  <a:srgbClr val="FFE5E5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accepts coins, verifies payment, allows product selection, dispenses the item, and returns change</a:t>
            </a:r>
            <a:r>
              <a:rPr lang="en-US" sz="9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all governed by a </a:t>
            </a:r>
            <a:r>
              <a:rPr lang="en-US" sz="900" dirty="0">
                <a:solidFill>
                  <a:srgbClr val="C9131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Moore Finite State Machine</a:t>
            </a:r>
            <a:r>
              <a:rPr lang="en-US" sz="9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implemented in Verilog HDL.</a:t>
            </a:r>
          </a:p>
          <a:p>
            <a:pPr marL="0" indent="0" algn="l">
              <a:lnSpc>
                <a:spcPct val="124000"/>
              </a:lnSpc>
              <a:buNone/>
            </a:pPr>
            <a:endParaRPr lang="en-US" sz="900" dirty="0">
              <a:solidFill>
                <a:srgbClr val="FFE5E5"/>
              </a:solidFill>
              <a:latin typeface="DM Sans" pitchFamily="34" charset="0"/>
              <a:ea typeface="DM Sans" pitchFamily="34" charset="-122"/>
              <a:cs typeface="DM Sans" pitchFamily="34" charset="-120"/>
            </a:endParaRPr>
          </a:p>
          <a:p>
            <a:pPr>
              <a:lnSpc>
                <a:spcPct val="124000"/>
              </a:lnSpc>
            </a:pPr>
            <a:r>
              <a:rPr lang="en-US" sz="9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​Verilog is a Hardware Description Language (HDL) used to model, simulate, and design digital electronic systems.</a:t>
            </a:r>
          </a:p>
          <a:p>
            <a:pPr marL="0" indent="0" algn="l">
              <a:lnSpc>
                <a:spcPct val="124000"/>
              </a:lnSpc>
              <a:buNone/>
            </a:pPr>
            <a:endParaRPr lang="en-US" sz="900" dirty="0">
              <a:solidFill>
                <a:srgbClr val="FFE5E5"/>
              </a:solidFill>
              <a:latin typeface="DM Sans" pitchFamily="34" charset="0"/>
              <a:ea typeface="DM Sans" pitchFamily="34" charset="-122"/>
              <a:cs typeface="DM Sans" pitchFamily="34" charset="-120"/>
            </a:endParaRPr>
          </a:p>
          <a:p>
            <a:pPr marL="0" indent="0" algn="l">
              <a:lnSpc>
                <a:spcPct val="124000"/>
              </a:lnSpc>
              <a:buNone/>
            </a:pPr>
            <a:endParaRPr lang="en-US" sz="9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41914" y="2534839"/>
            <a:ext cx="232693" cy="23269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41914" y="2892473"/>
            <a:ext cx="4767114" cy="191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Railway &amp; Airports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241914" y="3143844"/>
            <a:ext cx="4767114" cy="1730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High-traffic automated retail</a:t>
            </a:r>
            <a:endParaRPr lang="en-US" sz="9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41914" y="3516881"/>
            <a:ext cx="232693" cy="232693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241914" y="3874515"/>
            <a:ext cx="4767114" cy="191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Malls &amp; Offices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241914" y="4125886"/>
            <a:ext cx="4767114" cy="1730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24/7 unattended service</a:t>
            </a:r>
            <a:endParaRPr lang="en-US" sz="9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584279" y="3088331"/>
            <a:ext cx="232693" cy="232693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2584279" y="3445965"/>
            <a:ext cx="4767114" cy="191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Schools &amp; Hospitals</a:t>
            </a:r>
            <a:endParaRPr lang="en-US" sz="1200" dirty="0"/>
          </a:p>
        </p:txBody>
      </p:sp>
      <p:sp>
        <p:nvSpPr>
          <p:cNvPr id="13" name="Text 7"/>
          <p:cNvSpPr/>
          <p:nvPr/>
        </p:nvSpPr>
        <p:spPr>
          <a:xfrm>
            <a:off x="2584279" y="3697335"/>
            <a:ext cx="4767114" cy="1730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Reliable, low-maintenance access</a:t>
            </a:r>
            <a:endParaRPr lang="en-US" sz="900" dirty="0"/>
          </a:p>
        </p:txBody>
      </p: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9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364310CC-E184-B36A-6BB3-EE34C27DA63E}"/>
                  </a:ext>
                </a:extLst>
              </p14:cNvPr>
              <p14:cNvContentPartPr/>
              <p14:nvPr/>
            </p14:nvContentPartPr>
            <p14:xfrm>
              <a:off x="6817267" y="1855376"/>
              <a:ext cx="360" cy="3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364310CC-E184-B36A-6BB3-EE34C27DA63E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754627" y="1477376"/>
                <a:ext cx="126000" cy="756000"/>
              </a:xfrm>
              <a:prstGeom prst="rect">
                <a:avLst/>
              </a:prstGeom>
            </p:spPr>
          </p:pic>
        </mc:Fallback>
      </mc:AlternateContent>
      <p:pic>
        <p:nvPicPr>
          <p:cNvPr id="16" name="Picture 15">
            <a:extLst>
              <a:ext uri="{FF2B5EF4-FFF2-40B4-BE49-F238E27FC236}">
                <a16:creationId xmlns:a16="http://schemas.microsoft.com/office/drawing/2014/main" id="{188D1986-A37E-D0FE-6DC4-CEBA9C32F0A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09028" y="0"/>
            <a:ext cx="4134971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3943" y="997893"/>
            <a:ext cx="8196114" cy="445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Problem Statement &amp; Objectives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73943" y="1781770"/>
            <a:ext cx="3932858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The Challenge</a:t>
            </a:r>
            <a:endParaRPr lang="en-US" sz="1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3943" y="2156743"/>
            <a:ext cx="1898749" cy="9589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04552" y="2311152"/>
            <a:ext cx="1513731" cy="650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Accurate payment verification under all conditions</a:t>
            </a:r>
            <a:endParaRPr lang="en-US" sz="10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08052" y="2156743"/>
            <a:ext cx="1898749" cy="9589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738661" y="2311152"/>
            <a:ext cx="1513731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Fast, error-free change calculation</a:t>
            </a:r>
            <a:endParaRPr lang="en-US" sz="10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3943" y="3251002"/>
            <a:ext cx="1898749" cy="74220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04552" y="3405411"/>
            <a:ext cx="1513731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Minimal human intervention</a:t>
            </a:r>
            <a:endParaRPr lang="en-US" sz="10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508052" y="3251002"/>
            <a:ext cx="1898749" cy="74220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2738661" y="3405411"/>
            <a:ext cx="1513731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Continuous, reliable operation</a:t>
            </a:r>
            <a:endParaRPr lang="en-US" sz="1050" dirty="0"/>
          </a:p>
        </p:txBody>
      </p:sp>
      <p:sp>
        <p:nvSpPr>
          <p:cNvPr id="12" name="Shape 6"/>
          <p:cNvSpPr/>
          <p:nvPr/>
        </p:nvSpPr>
        <p:spPr>
          <a:xfrm>
            <a:off x="4644405" y="1646411"/>
            <a:ext cx="4127971" cy="2499122"/>
          </a:xfrm>
          <a:prstGeom prst="roundRect">
            <a:avLst>
              <a:gd name="adj" fmla="val 3901"/>
            </a:avLst>
          </a:prstGeom>
          <a:solidFill>
            <a:srgbClr val="C91313">
              <a:alpha val="95000"/>
            </a:srgbClr>
          </a:solidFill>
          <a:ln/>
        </p:spPr>
      </p:sp>
      <p:sp>
        <p:nvSpPr>
          <p:cNvPr id="13" name="Text 7"/>
          <p:cNvSpPr/>
          <p:nvPr/>
        </p:nvSpPr>
        <p:spPr>
          <a:xfrm>
            <a:off x="4779764" y="1781770"/>
            <a:ext cx="3857253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Our Objective</a:t>
            </a:r>
            <a:endParaRPr lang="en-US" sz="1400" dirty="0"/>
          </a:p>
        </p:txBody>
      </p:sp>
      <p:sp>
        <p:nvSpPr>
          <p:cNvPr id="14" name="Text 8"/>
          <p:cNvSpPr/>
          <p:nvPr/>
        </p:nvSpPr>
        <p:spPr>
          <a:xfrm>
            <a:off x="4779764" y="2139776"/>
            <a:ext cx="4314453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Design an </a:t>
            </a:r>
            <a:r>
              <a:rPr lang="en-US" sz="1050" b="1" dirty="0">
                <a:solidFill>
                  <a:srgbClr val="FFFFFF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FPGA-based controller</a:t>
            </a:r>
            <a:r>
              <a:rPr lang="en-US" sz="105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that:</a:t>
            </a:r>
            <a:endParaRPr lang="en-US" sz="1050" dirty="0"/>
          </a:p>
        </p:txBody>
      </p:sp>
      <p:sp>
        <p:nvSpPr>
          <p:cNvPr id="15" name="Text 9"/>
          <p:cNvSpPr/>
          <p:nvPr/>
        </p:nvSpPr>
        <p:spPr>
          <a:xfrm>
            <a:off x="4779764" y="2478286"/>
            <a:ext cx="3857253" cy="12727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13360" indent="-213360" algn="l">
              <a:lnSpc>
                <a:spcPct val="133000"/>
              </a:lnSpc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Accepts ₹5, ₹10, and ₹20 coins</a:t>
            </a:r>
            <a:endParaRPr lang="en-US" sz="1050" dirty="0"/>
          </a:p>
          <a:p>
            <a:pPr marL="213360" indent="-213360" algn="l">
              <a:lnSpc>
                <a:spcPct val="133000"/>
              </a:lnSpc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Supports four product selections</a:t>
            </a:r>
            <a:endParaRPr lang="en-US" sz="1050" dirty="0"/>
          </a:p>
          <a:p>
            <a:pPr marL="213360" indent="-213360" algn="l">
              <a:lnSpc>
                <a:spcPct val="133000"/>
              </a:lnSpc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Calculates and returns change automatically</a:t>
            </a:r>
            <a:endParaRPr lang="en-US" sz="1050" dirty="0"/>
          </a:p>
          <a:p>
            <a:pPr marL="213360" indent="-213360" algn="l">
              <a:lnSpc>
                <a:spcPct val="133000"/>
              </a:lnSpc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Displays balance on a seven segment display</a:t>
            </a:r>
            <a:endParaRPr lang="en-US" sz="1050" dirty="0"/>
          </a:p>
          <a:p>
            <a:pPr marL="213360" indent="-213360" algn="l">
              <a:lnSpc>
                <a:spcPct val="133000"/>
              </a:lnSpc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Dispenses the selected product reliably</a:t>
            </a:r>
            <a:endParaRPr lang="en-US" sz="105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AC0E31EF-ACE1-AD2C-A402-A51741BD76C3}"/>
                  </a:ext>
                </a:extLst>
              </p14:cNvPr>
              <p14:cNvContentPartPr/>
              <p14:nvPr/>
            </p14:nvContentPartPr>
            <p14:xfrm>
              <a:off x="8074747" y="4943096"/>
              <a:ext cx="948960" cy="9360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AC0E31EF-ACE1-AD2C-A402-A51741BD76C3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011747" y="4880456"/>
                <a:ext cx="1074600" cy="2192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4E30EC0-D83A-0A65-5333-F5B096A0D3EB}"/>
              </a:ext>
            </a:extLst>
          </p:cNvPr>
          <p:cNvSpPr/>
          <p:nvPr/>
        </p:nvSpPr>
        <p:spPr>
          <a:xfrm>
            <a:off x="473943" y="908298"/>
            <a:ext cx="8196114" cy="389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Tools &amp; Software Used</a:t>
            </a:r>
            <a:endParaRPr lang="en-US" sz="245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B1B67115-B139-951E-4EA0-307DD63443C8}"/>
              </a:ext>
            </a:extLst>
          </p:cNvPr>
          <p:cNvSpPr/>
          <p:nvPr/>
        </p:nvSpPr>
        <p:spPr>
          <a:xfrm>
            <a:off x="388665" y="1475705"/>
            <a:ext cx="4124102" cy="2759497"/>
          </a:xfrm>
          <a:prstGeom prst="roundRect">
            <a:avLst>
              <a:gd name="adj" fmla="val 3092"/>
            </a:avLst>
          </a:prstGeom>
          <a:solidFill>
            <a:srgbClr val="C91313">
              <a:alpha val="95000"/>
            </a:srgbClr>
          </a:solidFill>
          <a:ln/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89E4C7B-4581-0859-DDAA-5EBCF90D0CDD}"/>
              </a:ext>
            </a:extLst>
          </p:cNvPr>
          <p:cNvSpPr/>
          <p:nvPr/>
        </p:nvSpPr>
        <p:spPr>
          <a:xfrm>
            <a:off x="535559" y="2081956"/>
            <a:ext cx="3887167" cy="194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Design &amp; Simulation</a:t>
            </a:r>
            <a:endParaRPr lang="en-US" sz="12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480C167-055C-957F-BA0B-B2C0E9506FA8}"/>
              </a:ext>
            </a:extLst>
          </p:cNvPr>
          <p:cNvSpPr/>
          <p:nvPr/>
        </p:nvSpPr>
        <p:spPr>
          <a:xfrm>
            <a:off x="473943" y="2454473"/>
            <a:ext cx="3887167" cy="14510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82880" indent="-182880" algn="l">
              <a:lnSpc>
                <a:spcPct val="133000"/>
              </a:lnSpc>
              <a:buSzPct val="100000"/>
              <a:buChar char="•"/>
            </a:pPr>
            <a:r>
              <a:rPr lang="en-US" sz="900" b="1" dirty="0">
                <a:solidFill>
                  <a:srgbClr val="FFFFFF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Verilog HDL</a:t>
            </a:r>
            <a:r>
              <a:rPr lang="en-US" sz="9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RTL source code for FSM, datapath, and display driver</a:t>
            </a:r>
            <a:endParaRPr lang="en-US" sz="900" dirty="0"/>
          </a:p>
          <a:p>
            <a:pPr marL="182880" indent="-182880" algn="l">
              <a:lnSpc>
                <a:spcPct val="133000"/>
              </a:lnSpc>
              <a:buSzPct val="100000"/>
              <a:buChar char="•"/>
            </a:pPr>
            <a:r>
              <a:rPr lang="en-US" sz="900" b="1" dirty="0">
                <a:solidFill>
                  <a:srgbClr val="FFFFFF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Xilinx Vivado</a:t>
            </a:r>
            <a:r>
              <a:rPr lang="en-US" sz="9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Synthesis, implementation, and FPGA bitstream generation</a:t>
            </a:r>
            <a:endParaRPr lang="en-US" sz="900" dirty="0"/>
          </a:p>
          <a:p>
            <a:pPr marL="182880" indent="-182880">
              <a:lnSpc>
                <a:spcPct val="133000"/>
              </a:lnSpc>
              <a:buSzPct val="100000"/>
              <a:buChar char="•"/>
            </a:pPr>
            <a:r>
              <a:rPr lang="en-US" sz="900" b="1" dirty="0" err="1">
                <a:solidFill>
                  <a:srgbClr val="FFFFFF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ModelSim</a:t>
            </a:r>
            <a:r>
              <a:rPr lang="en-US" sz="900" b="1" dirty="0">
                <a:solidFill>
                  <a:srgbClr val="FFFFFF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 </a:t>
            </a:r>
            <a:r>
              <a:rPr lang="en-US" sz="9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— Functional simulation of testbenches</a:t>
            </a:r>
            <a:endParaRPr lang="en-US" sz="900" dirty="0"/>
          </a:p>
          <a:p>
            <a:pPr marL="182880" indent="-182880" algn="l">
              <a:lnSpc>
                <a:spcPct val="133000"/>
              </a:lnSpc>
              <a:buSzPct val="100000"/>
              <a:buChar char="•"/>
            </a:pPr>
            <a:r>
              <a:rPr lang="en-US" sz="900" b="1" dirty="0">
                <a:solidFill>
                  <a:srgbClr val="FFFFFF"/>
                </a:solidFill>
                <a:latin typeface="DM Sans Bold" pitchFamily="34" charset="0"/>
                <a:ea typeface="DM Sans" pitchFamily="34" charset="-122"/>
                <a:cs typeface="DM Sans" pitchFamily="34" charset="-120"/>
              </a:rPr>
              <a:t>ISim</a:t>
            </a:r>
            <a:r>
              <a:rPr lang="en-US" sz="9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Waveform visualization for debugging signal transitions</a:t>
            </a:r>
            <a:endParaRPr lang="en-US" sz="9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4DF5DBE6-1980-ECD2-47EF-A29A60C919C6}"/>
              </a:ext>
            </a:extLst>
          </p:cNvPr>
          <p:cNvSpPr/>
          <p:nvPr/>
        </p:nvSpPr>
        <p:spPr>
          <a:xfrm>
            <a:off x="4721275" y="1594172"/>
            <a:ext cx="3953545" cy="194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Verification &amp; Hardware</a:t>
            </a:r>
            <a:endParaRPr lang="en-US" sz="12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418EF58B-B180-B37E-6648-4CC0E9B444B8}"/>
              </a:ext>
            </a:extLst>
          </p:cNvPr>
          <p:cNvSpPr/>
          <p:nvPr/>
        </p:nvSpPr>
        <p:spPr>
          <a:xfrm>
            <a:off x="4721275" y="1907456"/>
            <a:ext cx="3953545" cy="14096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82880" indent="-182880" algn="l">
              <a:lnSpc>
                <a:spcPct val="133000"/>
              </a:lnSpc>
              <a:buSzPct val="100000"/>
              <a:buChar char="•"/>
            </a:pPr>
            <a:r>
              <a:rPr lang="en-US" sz="900" b="1" dirty="0">
                <a:solidFill>
                  <a:srgbClr val="FFE5E5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Testbench</a:t>
            </a:r>
            <a:r>
              <a:rPr lang="en-US" sz="9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Self-checking Verilog testbench covering all coin sequences, product selections, and edge cases (reset, under/over payment)</a:t>
            </a:r>
            <a:endParaRPr lang="en-US" sz="900" dirty="0"/>
          </a:p>
          <a:p>
            <a:pPr marL="182880" indent="-182880" algn="l">
              <a:lnSpc>
                <a:spcPct val="133000"/>
              </a:lnSpc>
              <a:buSzPct val="100000"/>
              <a:buChar char="•"/>
            </a:pPr>
            <a:r>
              <a:rPr lang="en-US" sz="900" b="1" dirty="0">
                <a:solidFill>
                  <a:srgbClr val="FFE5E5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FPGA Board</a:t>
            </a:r>
            <a:r>
              <a:rPr lang="en-US" sz="9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Physical deployment for I/O validation (switches for coins, LEDs for dispense, 7-segment for balance)</a:t>
            </a:r>
            <a:endParaRPr lang="en-US" sz="900" dirty="0"/>
          </a:p>
          <a:p>
            <a:pPr marL="182880" indent="-182880" algn="l">
              <a:lnSpc>
                <a:spcPct val="133000"/>
              </a:lnSpc>
              <a:buSzPct val="100000"/>
              <a:buChar char="•"/>
            </a:pPr>
            <a:r>
              <a:rPr lang="en-US" sz="900" b="1" dirty="0">
                <a:solidFill>
                  <a:srgbClr val="FFE5E5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Constraints File (.xdc)</a:t>
            </a:r>
            <a:r>
              <a:rPr lang="en-US" sz="9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Pin assignments mapping Verilog ports to physical FPGA pins</a:t>
            </a:r>
            <a:endParaRPr lang="en-US" sz="9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985539DA-8ABD-8DC9-EA61-545ED712C9B7}"/>
              </a:ext>
            </a:extLst>
          </p:cNvPr>
          <p:cNvSpPr/>
          <p:nvPr/>
        </p:nvSpPr>
        <p:spPr>
          <a:xfrm>
            <a:off x="4721275" y="3450357"/>
            <a:ext cx="3953545" cy="651570"/>
          </a:xfrm>
          <a:prstGeom prst="roundRect">
            <a:avLst>
              <a:gd name="adj" fmla="val 7638"/>
            </a:avLst>
          </a:prstGeom>
          <a:solidFill>
            <a:srgbClr val="740B0B"/>
          </a:solidFill>
          <a:ln/>
        </p:spPr>
      </p:sp>
      <p:pic>
        <p:nvPicPr>
          <p:cNvPr id="9" name="Image 0" descr="preencoded.png">
            <a:extLst>
              <a:ext uri="{FF2B5EF4-FFF2-40B4-BE49-F238E27FC236}">
                <a16:creationId xmlns:a16="http://schemas.microsoft.com/office/drawing/2014/main" id="{1ACF721F-E45C-6CBB-208B-781F8CD5E1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9742" y="3628132"/>
            <a:ext cx="148084" cy="118467"/>
          </a:xfrm>
          <a:prstGeom prst="rect">
            <a:avLst/>
          </a:prstGeom>
        </p:spPr>
      </p:pic>
      <p:sp>
        <p:nvSpPr>
          <p:cNvPr id="10" name="Text 7">
            <a:extLst>
              <a:ext uri="{FF2B5EF4-FFF2-40B4-BE49-F238E27FC236}">
                <a16:creationId xmlns:a16="http://schemas.microsoft.com/office/drawing/2014/main" id="{A3795B15-3DEE-D8F6-B99C-63E7F6D0A3B5}"/>
              </a:ext>
            </a:extLst>
          </p:cNvPr>
          <p:cNvSpPr/>
          <p:nvPr/>
        </p:nvSpPr>
        <p:spPr>
          <a:xfrm>
            <a:off x="5106293" y="3586609"/>
            <a:ext cx="3450059" cy="3790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All modules are written in synthesizable Verilog no system tasks or delays in RTL code.</a:t>
            </a:r>
            <a:endParaRPr lang="en-US" sz="900" dirty="0"/>
          </a:p>
        </p:txBody>
      </p: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9E78AD72-4DD8-2186-2074-3D7EC850C7DF}"/>
                  </a:ext>
                </a:extLst>
              </p14:cNvPr>
              <p14:cNvContentPartPr/>
              <p14:nvPr/>
            </p14:nvContentPartPr>
            <p14:xfrm>
              <a:off x="8121187" y="4981976"/>
              <a:ext cx="836280" cy="8784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9E78AD72-4DD8-2186-2074-3D7EC850C7D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058187" y="4603976"/>
                <a:ext cx="961920" cy="84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8940A816-8716-B915-F4DA-F9F34872317C}"/>
                  </a:ext>
                </a:extLst>
              </p14:cNvPr>
              <p14:cNvContentPartPr/>
              <p14:nvPr/>
            </p14:nvContentPartPr>
            <p14:xfrm>
              <a:off x="7983582" y="4859280"/>
              <a:ext cx="1032120" cy="20592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8940A816-8716-B915-F4DA-F9F34872317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920582" y="4796280"/>
                <a:ext cx="1157760" cy="331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239499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3943" y="419844"/>
            <a:ext cx="8196114" cy="3827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System Workflow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73943" y="1002506"/>
            <a:ext cx="8653314" cy="1730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controller follows a deterministic sequence governed by a </a:t>
            </a:r>
            <a:r>
              <a:rPr lang="en-US" sz="900" dirty="0">
                <a:solidFill>
                  <a:srgbClr val="C9131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Moore FSM</a:t>
            </a:r>
            <a:r>
              <a:rPr lang="en-US" sz="9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 outputs depend only on the current state, ensuring glitch free operation.</a:t>
            </a:r>
            <a:endParaRPr lang="en-US" sz="9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210" y="1288033"/>
            <a:ext cx="7933581" cy="297700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015439" y="3414924"/>
            <a:ext cx="1196607" cy="4853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Dispense Product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507386" y="3414924"/>
            <a:ext cx="1196607" cy="4853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Compare Balance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007529" y="3414924"/>
            <a:ext cx="1196607" cy="4853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Update Balance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2507673" y="3414924"/>
            <a:ext cx="1196607" cy="4853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Insert Coins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975032" y="3414924"/>
            <a:ext cx="1196607" cy="4853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Select Product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473943" y="4377482"/>
            <a:ext cx="8196114" cy="3461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Registers store the running balance, the comparator validates payment sufficiency, and the arithmetic unit computes exact change  all synchronized to the system clock.</a:t>
            </a:r>
            <a:endParaRPr lang="en-US" sz="9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2B9BCF79-1F16-F3EB-0DE1-89A41DD2951C}"/>
                  </a:ext>
                </a:extLst>
              </p14:cNvPr>
              <p14:cNvContentPartPr/>
              <p14:nvPr/>
            </p14:nvContentPartPr>
            <p14:xfrm>
              <a:off x="8104987" y="4894496"/>
              <a:ext cx="927000" cy="14040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2B9BCF79-1F16-F3EB-0DE1-89A41DD2951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041987" y="4831856"/>
                <a:ext cx="1052640" cy="2660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3943" y="376684"/>
            <a:ext cx="8196114" cy="236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Architectural Block Diagram</a:t>
            </a:r>
            <a:endParaRPr lang="en-US" sz="1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893" y="713556"/>
            <a:ext cx="4010323" cy="401032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74479" y="1085210"/>
            <a:ext cx="4010323" cy="298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Key Modules</a:t>
            </a:r>
            <a:endParaRPr lang="en-US" sz="10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51027" y="1470661"/>
            <a:ext cx="1990799" cy="10715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851486" y="1453290"/>
            <a:ext cx="1890340" cy="881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FFE5E5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Coin Detector</a:t>
            </a:r>
            <a:r>
              <a:rPr lang="en-US" sz="10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Identifies ₹5, ₹10, ₹20 inputs</a:t>
            </a:r>
            <a:endParaRPr lang="en-US" sz="10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58709" y="1724244"/>
            <a:ext cx="1990874" cy="10715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872614" y="1725333"/>
            <a:ext cx="1890415" cy="881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FFE5E5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Balance Register</a:t>
            </a:r>
            <a:r>
              <a:rPr lang="en-US" sz="10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Accumulates inserted value</a:t>
            </a:r>
            <a:endParaRPr lang="en-US" sz="100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51027" y="2005746"/>
            <a:ext cx="1990799" cy="107156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4872691" y="2002072"/>
            <a:ext cx="1890340" cy="881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FFE5E5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Comparator</a:t>
            </a:r>
            <a:r>
              <a:rPr lang="en-US" sz="10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Checks balance ≥ product price</a:t>
            </a:r>
            <a:endParaRPr lang="en-US" sz="100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51027" y="2315851"/>
            <a:ext cx="1990874" cy="107156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4851411" y="2322725"/>
            <a:ext cx="1890415" cy="881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FFE5E5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Change Calculator</a:t>
            </a:r>
            <a:r>
              <a:rPr lang="en-US" sz="10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Computes balance − price</a:t>
            </a:r>
            <a:endParaRPr lang="en-US" sz="1000" dirty="0"/>
          </a:p>
        </p:txBody>
      </p:sp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757159" y="2655184"/>
            <a:ext cx="4019848" cy="107156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4857618" y="2664709"/>
            <a:ext cx="3919389" cy="881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FFE5E5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Display Controller</a:t>
            </a:r>
            <a:r>
              <a:rPr lang="en-US" sz="10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Drives seven-segment output</a:t>
            </a:r>
            <a:endParaRPr lang="en-US" sz="10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B3B5709F-C3C9-6796-932D-E7527E75BB0D}"/>
                  </a:ext>
                </a:extLst>
              </p14:cNvPr>
              <p14:cNvContentPartPr/>
              <p14:nvPr/>
            </p14:nvContentPartPr>
            <p14:xfrm>
              <a:off x="7940107" y="4926176"/>
              <a:ext cx="1058040" cy="13104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B3B5709F-C3C9-6796-932D-E7527E75BB0D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877467" y="4863176"/>
                <a:ext cx="1183680" cy="2566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1178" y="429728"/>
            <a:ext cx="8196114" cy="403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Design Features</a:t>
            </a:r>
            <a:endParaRPr lang="en-US" sz="2500" dirty="0"/>
          </a:p>
        </p:txBody>
      </p:sp>
      <p:sp>
        <p:nvSpPr>
          <p:cNvPr id="4" name="Text 1"/>
          <p:cNvSpPr/>
          <p:nvPr/>
        </p:nvSpPr>
        <p:spPr>
          <a:xfrm>
            <a:off x="6000676" y="1098203"/>
            <a:ext cx="2674069" cy="201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Hardware Architecture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6000676" y="1411188"/>
            <a:ext cx="2674069" cy="12002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3040" indent="-193040" algn="l">
              <a:lnSpc>
                <a:spcPct val="127000"/>
              </a:lnSpc>
              <a:buSzPct val="100000"/>
              <a:buChar char="•"/>
            </a:pPr>
            <a:r>
              <a:rPr lang="en-US" sz="9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Moore Finite State Machine — state outputs are stable</a:t>
            </a:r>
            <a:endParaRPr lang="en-US" sz="950" dirty="0"/>
          </a:p>
          <a:p>
            <a:pPr marL="193040" indent="-193040" algn="l">
              <a:lnSpc>
                <a:spcPct val="127000"/>
              </a:lnSpc>
              <a:buSzPct val="100000"/>
              <a:buChar char="•"/>
            </a:pPr>
            <a:r>
              <a:rPr lang="en-US" sz="9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Structural Verilog HDL — modular, synthesizable code</a:t>
            </a:r>
            <a:endParaRPr lang="en-US" sz="950" dirty="0"/>
          </a:p>
          <a:p>
            <a:pPr marL="193040" indent="-193040" algn="l">
              <a:lnSpc>
                <a:spcPct val="127000"/>
              </a:lnSpc>
              <a:buSzPct val="100000"/>
              <a:buChar char="•"/>
            </a:pPr>
            <a:r>
              <a:rPr lang="en-US" sz="9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FPGA-compatible design — portable across platforms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6000676" y="2722662"/>
            <a:ext cx="2674069" cy="201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Functional Capabilities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6000676" y="3035647"/>
            <a:ext cx="2674069" cy="1652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3040" indent="-193040" algn="l">
              <a:lnSpc>
                <a:spcPct val="127000"/>
              </a:lnSpc>
              <a:buSzPct val="100000"/>
              <a:buChar char="•"/>
            </a:pPr>
            <a:r>
              <a:rPr lang="en-US" sz="9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Three coin denominations: ₹5, ₹10, ₹20</a:t>
            </a:r>
            <a:endParaRPr lang="en-US" sz="950" dirty="0"/>
          </a:p>
          <a:p>
            <a:pPr marL="193040" indent="-193040" algn="l">
              <a:lnSpc>
                <a:spcPct val="127000"/>
              </a:lnSpc>
              <a:buSzPct val="100000"/>
              <a:buChar char="•"/>
            </a:pPr>
            <a:r>
              <a:rPr lang="en-US" sz="9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Four selectable products with distinct prices</a:t>
            </a:r>
            <a:endParaRPr lang="en-US" sz="950" dirty="0"/>
          </a:p>
          <a:p>
            <a:pPr marL="193040" indent="-193040" algn="l">
              <a:lnSpc>
                <a:spcPct val="127000"/>
              </a:lnSpc>
              <a:buSzPct val="100000"/>
              <a:buChar char="•"/>
            </a:pPr>
            <a:r>
              <a:rPr lang="en-US" sz="9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Automatic balance update and change return</a:t>
            </a:r>
            <a:endParaRPr lang="en-US" sz="950" dirty="0"/>
          </a:p>
          <a:p>
            <a:pPr marL="193040" indent="-193040" algn="l">
              <a:lnSpc>
                <a:spcPct val="127000"/>
              </a:lnSpc>
              <a:buSzPct val="100000"/>
              <a:buChar char="•"/>
            </a:pPr>
            <a:r>
              <a:rPr lang="en-US" sz="9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Seven-segment display for real-time balance feedback</a:t>
            </a:r>
            <a:endParaRPr lang="en-US" sz="950" dirty="0"/>
          </a:p>
          <a:p>
            <a:pPr marL="193040" indent="-193040" algn="l">
              <a:lnSpc>
                <a:spcPct val="127000"/>
              </a:lnSpc>
              <a:buSzPct val="100000"/>
              <a:buChar char="•"/>
            </a:pPr>
            <a:r>
              <a:rPr lang="en-US" sz="9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Asynchronous reset for system initialization</a:t>
            </a:r>
            <a:endParaRPr lang="en-US" sz="95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CAF39052-4B2B-5312-8CCB-49B12C901C81}"/>
                  </a:ext>
                </a:extLst>
              </p14:cNvPr>
              <p14:cNvContentPartPr/>
              <p14:nvPr/>
            </p14:nvContentPartPr>
            <p14:xfrm>
              <a:off x="8141707" y="4948496"/>
              <a:ext cx="868320" cy="8748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CAF39052-4B2B-5312-8CCB-49B12C901C8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079067" y="4885496"/>
                <a:ext cx="993960" cy="213120"/>
              </a:xfrm>
              <a:prstGeom prst="rect">
                <a:avLst/>
              </a:prstGeom>
            </p:spPr>
          </p:pic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AE0A4728-FB9B-8AFE-3557-6642EFB7E04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6859" y="978140"/>
            <a:ext cx="5111977" cy="351990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4954" y="194683"/>
            <a:ext cx="8196114" cy="3758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Verilog Design &amp; Simulation Results</a:t>
            </a:r>
            <a:endParaRPr lang="en-US" sz="2350" dirty="0"/>
          </a:p>
        </p:txBody>
      </p:sp>
      <p:sp>
        <p:nvSpPr>
          <p:cNvPr id="3" name="Text 1"/>
          <p:cNvSpPr/>
          <p:nvPr/>
        </p:nvSpPr>
        <p:spPr>
          <a:xfrm>
            <a:off x="5029854" y="811736"/>
            <a:ext cx="3958679" cy="187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chemeClr val="bg1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Implementation Stack</a:t>
            </a:r>
            <a:endParaRPr lang="en-US" sz="1150" dirty="0">
              <a:solidFill>
                <a:schemeClr val="bg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5035508" y="1033351"/>
            <a:ext cx="3958679" cy="3369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8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Simulated using </a:t>
            </a:r>
            <a:r>
              <a:rPr lang="en-US" sz="850" b="1" dirty="0">
                <a:solidFill>
                  <a:srgbClr val="FFE5E5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Xilinx Vivado / ISE</a:t>
            </a:r>
            <a:r>
              <a:rPr lang="en-US" sz="8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all testbenches verified for corner cases including exact payment, overpayment, and insufficient funds.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6328" y="1419823"/>
            <a:ext cx="3958679" cy="187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Verification Checklist</a:t>
            </a:r>
            <a:endParaRPr lang="en-US" sz="11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65588" y="1762427"/>
            <a:ext cx="171376" cy="1713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394052" y="1756771"/>
            <a:ext cx="3587428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✔</a:t>
            </a:r>
            <a:r>
              <a:rPr lang="en-US" sz="8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Coin detection and denomination recognition</a:t>
            </a:r>
            <a:endParaRPr lang="en-US" sz="8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65588" y="2001000"/>
            <a:ext cx="171376" cy="17137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394052" y="1995344"/>
            <a:ext cx="3587428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✔</a:t>
            </a:r>
            <a:r>
              <a:rPr lang="en-US" sz="8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Balance register updates correctly</a:t>
            </a:r>
            <a:endParaRPr lang="en-US" sz="8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65588" y="2259757"/>
            <a:ext cx="171376" cy="17137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394052" y="2260821"/>
            <a:ext cx="3587428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✔</a:t>
            </a:r>
            <a:r>
              <a:rPr lang="en-US" sz="8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Comparator validates payment threshold</a:t>
            </a:r>
            <a:endParaRPr lang="en-US" sz="8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65588" y="2517747"/>
            <a:ext cx="171376" cy="17137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394052" y="2512091"/>
            <a:ext cx="3587428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✔</a:t>
            </a:r>
            <a:r>
              <a:rPr lang="en-US" sz="8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Product dispense signal asserted</a:t>
            </a:r>
            <a:endParaRPr lang="en-US" sz="8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65588" y="2764870"/>
            <a:ext cx="171376" cy="171376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5394052" y="2764870"/>
            <a:ext cx="3587428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✔</a:t>
            </a:r>
            <a:r>
              <a:rPr lang="en-US" sz="8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Change calculated and displayed accurately</a:t>
            </a:r>
            <a:endParaRPr lang="en-US" sz="850" dirty="0"/>
          </a:p>
        </p:txBody>
      </p:sp>
      <p:sp>
        <p:nvSpPr>
          <p:cNvPr id="16" name="Shape 9"/>
          <p:cNvSpPr/>
          <p:nvPr/>
        </p:nvSpPr>
        <p:spPr>
          <a:xfrm>
            <a:off x="473943" y="4137601"/>
            <a:ext cx="1976735" cy="652165"/>
          </a:xfrm>
          <a:prstGeom prst="roundRect">
            <a:avLst>
              <a:gd name="adj" fmla="val 7358"/>
            </a:avLst>
          </a:prstGeom>
          <a:solidFill>
            <a:srgbClr val="740B0B"/>
          </a:solidFill>
          <a:ln w="4763">
            <a:solidFill>
              <a:srgbClr val="8D2424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592931" y="4256589"/>
            <a:ext cx="1738759" cy="187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Moore FSM</a:t>
            </a:r>
            <a:endParaRPr lang="en-US" sz="1150" dirty="0"/>
          </a:p>
        </p:txBody>
      </p:sp>
      <p:sp>
        <p:nvSpPr>
          <p:cNvPr id="18" name="Text 11"/>
          <p:cNvSpPr/>
          <p:nvPr/>
        </p:nvSpPr>
        <p:spPr>
          <a:xfrm>
            <a:off x="592931" y="4502304"/>
            <a:ext cx="1738759" cy="168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8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State encoding &amp; transitions</a:t>
            </a:r>
            <a:endParaRPr lang="en-US" sz="850" dirty="0"/>
          </a:p>
        </p:txBody>
      </p:sp>
      <p:sp>
        <p:nvSpPr>
          <p:cNvPr id="19" name="Shape 12"/>
          <p:cNvSpPr/>
          <p:nvPr/>
        </p:nvSpPr>
        <p:spPr>
          <a:xfrm>
            <a:off x="2547045" y="4137601"/>
            <a:ext cx="1976735" cy="652165"/>
          </a:xfrm>
          <a:prstGeom prst="roundRect">
            <a:avLst>
              <a:gd name="adj" fmla="val 7358"/>
            </a:avLst>
          </a:prstGeom>
          <a:solidFill>
            <a:srgbClr val="740B0B"/>
          </a:solidFill>
          <a:ln w="4763">
            <a:solidFill>
              <a:srgbClr val="8D2424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2666033" y="4256589"/>
            <a:ext cx="1738759" cy="187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Registers</a:t>
            </a:r>
            <a:endParaRPr lang="en-US" sz="1150" dirty="0"/>
          </a:p>
        </p:txBody>
      </p:sp>
      <p:sp>
        <p:nvSpPr>
          <p:cNvPr id="21" name="Text 14"/>
          <p:cNvSpPr/>
          <p:nvPr/>
        </p:nvSpPr>
        <p:spPr>
          <a:xfrm>
            <a:off x="2666033" y="4502304"/>
            <a:ext cx="1738759" cy="168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8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Balance accumulation</a:t>
            </a:r>
            <a:endParaRPr lang="en-US" sz="850" dirty="0"/>
          </a:p>
        </p:txBody>
      </p:sp>
      <p:sp>
        <p:nvSpPr>
          <p:cNvPr id="22" name="Shape 15"/>
          <p:cNvSpPr/>
          <p:nvPr/>
        </p:nvSpPr>
        <p:spPr>
          <a:xfrm>
            <a:off x="4620146" y="4137601"/>
            <a:ext cx="1976735" cy="652165"/>
          </a:xfrm>
          <a:prstGeom prst="roundRect">
            <a:avLst>
              <a:gd name="adj" fmla="val 7358"/>
            </a:avLst>
          </a:prstGeom>
          <a:solidFill>
            <a:srgbClr val="740B0B"/>
          </a:solidFill>
          <a:ln w="4763">
            <a:solidFill>
              <a:srgbClr val="8D2424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4739134" y="4256589"/>
            <a:ext cx="1738759" cy="187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Comparator</a:t>
            </a:r>
            <a:endParaRPr lang="en-US" sz="1150" dirty="0"/>
          </a:p>
        </p:txBody>
      </p:sp>
      <p:sp>
        <p:nvSpPr>
          <p:cNvPr id="24" name="Text 17"/>
          <p:cNvSpPr/>
          <p:nvPr/>
        </p:nvSpPr>
        <p:spPr>
          <a:xfrm>
            <a:off x="4739134" y="4502304"/>
            <a:ext cx="1738759" cy="168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8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Price validation</a:t>
            </a:r>
            <a:endParaRPr lang="en-US" sz="850" dirty="0"/>
          </a:p>
        </p:txBody>
      </p:sp>
      <p:sp>
        <p:nvSpPr>
          <p:cNvPr id="25" name="Shape 18"/>
          <p:cNvSpPr/>
          <p:nvPr/>
        </p:nvSpPr>
        <p:spPr>
          <a:xfrm>
            <a:off x="6693247" y="4137601"/>
            <a:ext cx="1976810" cy="652165"/>
          </a:xfrm>
          <a:prstGeom prst="roundRect">
            <a:avLst>
              <a:gd name="adj" fmla="val 7358"/>
            </a:avLst>
          </a:prstGeom>
          <a:solidFill>
            <a:srgbClr val="740B0B"/>
          </a:solidFill>
          <a:ln w="4763">
            <a:solidFill>
              <a:srgbClr val="8D2424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6812235" y="4256589"/>
            <a:ext cx="1738833" cy="187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7-Seg Decoder</a:t>
            </a:r>
            <a:endParaRPr lang="en-US" sz="1150" dirty="0"/>
          </a:p>
        </p:txBody>
      </p:sp>
      <p:sp>
        <p:nvSpPr>
          <p:cNvPr id="27" name="Text 20"/>
          <p:cNvSpPr/>
          <p:nvPr/>
        </p:nvSpPr>
        <p:spPr>
          <a:xfrm>
            <a:off x="6812235" y="4502304"/>
            <a:ext cx="1738833" cy="168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8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BCD to display output</a:t>
            </a:r>
            <a:endParaRPr lang="en-US" sz="85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5CD3EBB3-0A51-D47F-9137-5BF49ED9BA93}"/>
                  </a:ext>
                </a:extLst>
              </p14:cNvPr>
              <p14:cNvContentPartPr/>
              <p14:nvPr/>
            </p14:nvContentPartPr>
            <p14:xfrm>
              <a:off x="7877827" y="4912856"/>
              <a:ext cx="1116360" cy="12636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5CD3EBB3-0A51-D47F-9137-5BF49ED9BA9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815187" y="4849856"/>
                <a:ext cx="1242000" cy="252000"/>
              </a:xfrm>
              <a:prstGeom prst="rect">
                <a:avLst/>
              </a:prstGeom>
            </p:spPr>
          </p:pic>
        </mc:Fallback>
      </mc:AlternateContent>
      <p:pic>
        <p:nvPicPr>
          <p:cNvPr id="31" name="Picture 30">
            <a:extLst>
              <a:ext uri="{FF2B5EF4-FFF2-40B4-BE49-F238E27FC236}">
                <a16:creationId xmlns:a16="http://schemas.microsoft.com/office/drawing/2014/main" id="{D2F1FCA9-C3F6-C4A9-6E2C-DB83FE79CE0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7963" y="1023643"/>
            <a:ext cx="4553047" cy="2568489"/>
          </a:xfrm>
          <a:prstGeom prst="rect">
            <a:avLst/>
          </a:prstGeom>
        </p:spPr>
      </p:pic>
      <p:sp>
        <p:nvSpPr>
          <p:cNvPr id="29" name="Shape 12">
            <a:extLst>
              <a:ext uri="{FF2B5EF4-FFF2-40B4-BE49-F238E27FC236}">
                <a16:creationId xmlns:a16="http://schemas.microsoft.com/office/drawing/2014/main" id="{ECA3671D-71A1-342B-51EF-A7613716A485}"/>
              </a:ext>
            </a:extLst>
          </p:cNvPr>
          <p:cNvSpPr/>
          <p:nvPr/>
        </p:nvSpPr>
        <p:spPr>
          <a:xfrm>
            <a:off x="5065588" y="3049993"/>
            <a:ext cx="1629523" cy="992077"/>
          </a:xfrm>
          <a:prstGeom prst="roundRect">
            <a:avLst>
              <a:gd name="adj" fmla="val 7358"/>
            </a:avLst>
          </a:prstGeom>
          <a:solidFill>
            <a:srgbClr val="740B0B"/>
          </a:solidFill>
          <a:ln w="4763">
            <a:solidFill>
              <a:srgbClr val="8D2424"/>
            </a:solidFill>
            <a:prstDash val="solid"/>
          </a:ln>
        </p:spPr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5AB889D-1404-FA80-E969-8CF0A38751B0}"/>
              </a:ext>
            </a:extLst>
          </p:cNvPr>
          <p:cNvSpPr txBox="1"/>
          <p:nvPr/>
        </p:nvSpPr>
        <p:spPr>
          <a:xfrm>
            <a:off x="5104936" y="3250944"/>
            <a:ext cx="1839606" cy="9694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// Product Selection    </a:t>
            </a:r>
          </a:p>
          <a:p>
            <a:r>
              <a:rPr lang="en-US" sz="900" dirty="0">
                <a:solidFill>
                  <a:schemeClr val="bg1"/>
                </a:solidFill>
              </a:rPr>
              <a:t>// 00 = Chips (15)    </a:t>
            </a:r>
          </a:p>
          <a:p>
            <a:r>
              <a:rPr lang="en-US" sz="900" dirty="0">
                <a:solidFill>
                  <a:schemeClr val="bg1"/>
                </a:solidFill>
              </a:rPr>
              <a:t>// 01 = Coke (20)    </a:t>
            </a:r>
          </a:p>
          <a:p>
            <a:r>
              <a:rPr lang="en-US" sz="900" dirty="0">
                <a:solidFill>
                  <a:schemeClr val="bg1"/>
                </a:solidFill>
              </a:rPr>
              <a:t>// 10 = Biscuit (25)</a:t>
            </a:r>
          </a:p>
          <a:p>
            <a:r>
              <a:rPr lang="en-US" sz="900" dirty="0">
                <a:solidFill>
                  <a:schemeClr val="bg1"/>
                </a:solidFill>
              </a:rPr>
              <a:t>// 11 = Chocolate (30)</a:t>
            </a:r>
          </a:p>
          <a:p>
            <a:r>
              <a:rPr lang="en-US" sz="1200" dirty="0">
                <a:solidFill>
                  <a:schemeClr val="bg1"/>
                </a:solidFill>
              </a:rPr>
              <a:t>   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D4171B3-017F-D5B7-5DD1-93040F1381B9}"/>
              </a:ext>
            </a:extLst>
          </p:cNvPr>
          <p:cNvSpPr txBox="1"/>
          <p:nvPr/>
        </p:nvSpPr>
        <p:spPr>
          <a:xfrm>
            <a:off x="5065588" y="3088203"/>
            <a:ext cx="19937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bg1"/>
                </a:solidFill>
              </a:rPr>
              <a:t>For product reference: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3857" y="435758"/>
            <a:ext cx="8196114" cy="445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Advantages</a:t>
            </a:r>
            <a:r>
              <a:rPr lang="en-US" sz="28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 &amp; Limitations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76386" y="1488281"/>
            <a:ext cx="4127971" cy="2815382"/>
          </a:xfrm>
          <a:prstGeom prst="roundRect">
            <a:avLst>
              <a:gd name="adj" fmla="val 3463"/>
            </a:avLst>
          </a:prstGeom>
          <a:solidFill>
            <a:srgbClr val="C91313">
              <a:alpha val="9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11746" y="1623640"/>
            <a:ext cx="3857253" cy="635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Advantages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11746" y="1981646"/>
            <a:ext cx="3857253" cy="20140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13360" indent="-213360" algn="l">
              <a:lnSpc>
                <a:spcPct val="133000"/>
              </a:lnSpc>
              <a:buSzPct val="100000"/>
              <a:buChar char="•"/>
            </a:pPr>
            <a:endParaRPr lang="en-US" sz="1050" dirty="0">
              <a:solidFill>
                <a:srgbClr val="FFFFFF"/>
              </a:solidFill>
              <a:latin typeface="DM Sans" pitchFamily="34" charset="0"/>
              <a:ea typeface="DM Sans" pitchFamily="34" charset="-122"/>
              <a:cs typeface="DM Sans" pitchFamily="34" charset="-120"/>
            </a:endParaRPr>
          </a:p>
          <a:p>
            <a:pPr marL="213360" indent="-213360" algn="l">
              <a:lnSpc>
                <a:spcPct val="133000"/>
              </a:lnSpc>
              <a:buSzPct val="100000"/>
              <a:buChar char="•"/>
            </a:pPr>
            <a:endParaRPr lang="en-US" sz="1050" dirty="0">
              <a:solidFill>
                <a:srgbClr val="FFFFFF"/>
              </a:solidFill>
              <a:latin typeface="DM Sans" pitchFamily="34" charset="0"/>
              <a:ea typeface="DM Sans" pitchFamily="34" charset="-122"/>
              <a:cs typeface="DM Sans" pitchFamily="34" charset="-120"/>
            </a:endParaRPr>
          </a:p>
          <a:p>
            <a:pPr marL="213360" indent="-213360" algn="l">
              <a:lnSpc>
                <a:spcPct val="133000"/>
              </a:lnSpc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Fast, glitch-free FSM-driven response</a:t>
            </a:r>
            <a:endParaRPr lang="en-US" sz="1050" dirty="0"/>
          </a:p>
          <a:p>
            <a:pPr marL="213360" indent="-213360" algn="l">
              <a:lnSpc>
                <a:spcPct val="133000"/>
              </a:lnSpc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Accurate arithmetic with zero rounding errors</a:t>
            </a:r>
            <a:endParaRPr lang="en-US" sz="1050" dirty="0"/>
          </a:p>
          <a:p>
            <a:pPr marL="213360" indent="-213360" algn="l">
              <a:lnSpc>
                <a:spcPct val="133000"/>
              </a:lnSpc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Fully automated — no manual intervention</a:t>
            </a:r>
            <a:endParaRPr lang="en-US" sz="1050" dirty="0"/>
          </a:p>
          <a:p>
            <a:pPr marL="213360" indent="-213360" algn="l">
              <a:lnSpc>
                <a:spcPct val="133000"/>
              </a:lnSpc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Modular, reusable Verilog architecture</a:t>
            </a:r>
            <a:endParaRPr lang="en-US" sz="1050" dirty="0"/>
          </a:p>
          <a:p>
            <a:pPr marL="213360" indent="-213360" algn="l">
              <a:lnSpc>
                <a:spcPct val="133000"/>
              </a:lnSpc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Low hardware complexity on FPGA fabric</a:t>
            </a:r>
            <a:endParaRPr lang="en-US" sz="1050" dirty="0"/>
          </a:p>
          <a:p>
            <a:pPr marL="213360" indent="-213360" algn="l">
              <a:lnSpc>
                <a:spcPct val="133000"/>
              </a:lnSpc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Easily expandable for additional features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741962" y="1623640"/>
            <a:ext cx="3932858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Current Limitations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741962" y="1981646"/>
            <a:ext cx="3932858" cy="12727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13360" indent="-213360" algn="l">
              <a:lnSpc>
                <a:spcPct val="133000"/>
              </a:lnSpc>
              <a:buSzPct val="100000"/>
              <a:buChar char="•"/>
            </a:pPr>
            <a:r>
              <a:rPr lang="en-US" sz="10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Fixed coin set  no custom denomination support</a:t>
            </a:r>
            <a:endParaRPr lang="en-US" sz="1050" dirty="0"/>
          </a:p>
          <a:p>
            <a:pPr marL="213360" indent="-213360" algn="l">
              <a:lnSpc>
                <a:spcPct val="133000"/>
              </a:lnSpc>
              <a:buSzPct val="100000"/>
              <a:buChar char="•"/>
            </a:pPr>
            <a:r>
              <a:rPr lang="en-US" sz="10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Limited to four predefined products</a:t>
            </a:r>
            <a:endParaRPr lang="en-US" sz="1050" dirty="0"/>
          </a:p>
          <a:p>
            <a:pPr marL="213360" indent="-213360">
              <a:lnSpc>
                <a:spcPct val="133000"/>
              </a:lnSpc>
              <a:buSzPct val="100000"/>
              <a:buChar char="•"/>
            </a:pPr>
            <a:r>
              <a:rPr lang="en-US" sz="10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 </a:t>
            </a:r>
            <a:r>
              <a:rPr lang="en-US" sz="1000" dirty="0">
                <a:solidFill>
                  <a:schemeClr val="bg1"/>
                </a:solidFill>
                <a:latin typeface="DM Sans" pitchFamily="2" charset="0"/>
              </a:rPr>
              <a:t>present design supports sequential currency detection, where only one note or coin is processed at a time</a:t>
            </a:r>
            <a:r>
              <a:rPr lang="en-US" sz="1050" dirty="0">
                <a:solidFill>
                  <a:schemeClr val="bg1"/>
                </a:solidFill>
              </a:rPr>
              <a:t>.</a:t>
            </a:r>
            <a:endParaRPr lang="en-US" sz="1050" dirty="0">
              <a:solidFill>
                <a:schemeClr val="bg1"/>
              </a:solidFill>
              <a:latin typeface="DM Sans" pitchFamily="34" charset="0"/>
              <a:ea typeface="DM Sans" pitchFamily="34" charset="-122"/>
              <a:cs typeface="DM Sans" pitchFamily="34" charset="-120"/>
            </a:endParaRPr>
          </a:p>
          <a:p>
            <a:pPr marL="213360" indent="-213360" algn="l">
              <a:lnSpc>
                <a:spcPct val="133000"/>
              </a:lnSpc>
              <a:buSzPct val="100000"/>
              <a:buChar char="•"/>
            </a:pPr>
            <a:r>
              <a:rPr lang="en-US" sz="10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 inventory or stock monitoring</a:t>
            </a:r>
            <a:endParaRPr lang="en-US" sz="1050" dirty="0"/>
          </a:p>
          <a:p>
            <a:pPr marL="213360" indent="-213360" algn="l">
              <a:lnSpc>
                <a:spcPct val="133000"/>
              </a:lnSpc>
              <a:buSzPct val="100000"/>
              <a:buChar char="•"/>
            </a:pPr>
            <a:r>
              <a:rPr lang="en-US" sz="10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Seven-segment display only  no rich UI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41962" y="3406750"/>
            <a:ext cx="3932858" cy="744587"/>
          </a:xfrm>
          <a:prstGeom prst="roundRect">
            <a:avLst>
              <a:gd name="adj" fmla="val 7638"/>
            </a:avLst>
          </a:prstGeom>
          <a:solidFill>
            <a:srgbClr val="740B0B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7321" y="3609826"/>
            <a:ext cx="169218" cy="135359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181898" y="3562350"/>
            <a:ext cx="3357563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Limitations are architectural choices, not design flaws  each is addressable in future iterations.</a:t>
            </a:r>
            <a:endParaRPr lang="en-US" sz="105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214344C0-8F4B-EC30-D9D7-BB00C0FBCE31}"/>
                  </a:ext>
                </a:extLst>
              </p14:cNvPr>
              <p14:cNvContentPartPr/>
              <p14:nvPr/>
            </p14:nvContentPartPr>
            <p14:xfrm>
              <a:off x="7991587" y="4893776"/>
              <a:ext cx="1031760" cy="13680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214344C0-8F4B-EC30-D9D7-BB00C0FBCE3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928587" y="4831136"/>
                <a:ext cx="1157400" cy="2624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3943" y="541660"/>
            <a:ext cx="8196114" cy="445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Comparison with Existing Systems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73943" y="1257895"/>
            <a:ext cx="8196114" cy="2758232"/>
          </a:xfrm>
          <a:prstGeom prst="roundRect">
            <a:avLst>
              <a:gd name="adj" fmla="val 2062"/>
            </a:avLst>
          </a:prstGeom>
          <a:noFill/>
          <a:ln w="4763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73943" y="1653629"/>
            <a:ext cx="8196114" cy="8463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73943" y="2046982"/>
            <a:ext cx="8196114" cy="8463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73943" y="2440335"/>
            <a:ext cx="8196114" cy="8463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73943" y="2833688"/>
            <a:ext cx="8196114" cy="8463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473943" y="3227040"/>
            <a:ext cx="8196114" cy="8463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473943" y="3620393"/>
            <a:ext cx="8196114" cy="8463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14214" y="1348606"/>
            <a:ext cx="2969865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b="1" dirty="0">
                <a:solidFill>
                  <a:srgbClr val="FFE5E5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Attribute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397597" y="1348606"/>
            <a:ext cx="2888010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b="1" dirty="0">
                <a:solidFill>
                  <a:srgbClr val="FFE5E5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Traditional Machine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099125" y="1348606"/>
            <a:ext cx="2888010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b="1" dirty="0">
                <a:solidFill>
                  <a:srgbClr val="FFE5E5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Proposed Verilog Controller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14214" y="1741959"/>
            <a:ext cx="2969865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Implementation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397597" y="1741959"/>
            <a:ext cx="2888010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Mechanical / Relay based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099125" y="1741959"/>
            <a:ext cx="2888010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Digital FPGA based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14214" y="2135312"/>
            <a:ext cx="2969865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Maintenance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397597" y="2135312"/>
            <a:ext cx="2888010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Higher  moving parts wear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099125" y="2135312"/>
            <a:ext cx="2888010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Low solid-state logic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14214" y="2528664"/>
            <a:ext cx="2969865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Processing Speed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397597" y="2528664"/>
            <a:ext cx="2888010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Slower, latency prone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099125" y="2528664"/>
            <a:ext cx="2888010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 speed, clock-synchronous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14214" y="2922017"/>
            <a:ext cx="2969865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Flexibility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397597" y="2922017"/>
            <a:ext cx="2888010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Fixed wiring, hard to modify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099125" y="2922017"/>
            <a:ext cx="2888010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Reprogrammable via firmware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14214" y="3315370"/>
            <a:ext cx="2969865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Architecture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397597" y="3315370"/>
            <a:ext cx="2888010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Monolithic, hard-wired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099125" y="3315370"/>
            <a:ext cx="2888010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Modular, reusable blocks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14214" y="3708722"/>
            <a:ext cx="2969865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Control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397597" y="3708722"/>
            <a:ext cx="2888010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Semi-manual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099125" y="3708722"/>
            <a:ext cx="2888010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Fully automatic FSM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73943" y="4168453"/>
            <a:ext cx="8196114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Our design demonstrates that </a:t>
            </a:r>
            <a:r>
              <a:rPr lang="en-US" sz="1050" dirty="0">
                <a:solidFill>
                  <a:srgbClr val="C9131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FPGA based digital control</a:t>
            </a:r>
            <a:r>
              <a:rPr lang="en-US" sz="10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offers superior speed, maintainability, and scalability over legacy mechanical approaches.</a:t>
            </a:r>
            <a:endParaRPr lang="en-US" sz="1050" dirty="0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766C7E34-A38A-5751-AB08-B1F41DC4818A}"/>
              </a:ext>
            </a:extLst>
          </p:cNvPr>
          <p:cNvGrpSpPr/>
          <p:nvPr/>
        </p:nvGrpSpPr>
        <p:grpSpPr>
          <a:xfrm>
            <a:off x="7973947" y="4909616"/>
            <a:ext cx="1049040" cy="113040"/>
            <a:chOff x="7973947" y="4909616"/>
            <a:chExt cx="1049040" cy="113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4DC49036-B331-F5EA-0781-3730F1770226}"/>
                    </a:ext>
                  </a:extLst>
                </p14:cNvPr>
                <p14:cNvContentPartPr/>
                <p14:nvPr/>
              </p14:nvContentPartPr>
              <p14:xfrm>
                <a:off x="7973947" y="4909616"/>
                <a:ext cx="1027440" cy="1130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4DC49036-B331-F5EA-0781-3730F1770226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7910947" y="4846976"/>
                  <a:ext cx="115308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C78402B6-DA24-D86F-5162-8D4937905370}"/>
                    </a:ext>
                  </a:extLst>
                </p14:cNvPr>
                <p14:cNvContentPartPr/>
                <p14:nvPr/>
              </p14:nvContentPartPr>
              <p14:xfrm>
                <a:off x="9022627" y="4988456"/>
                <a:ext cx="360" cy="3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C78402B6-DA24-D86F-5162-8D4937905370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959987" y="4925816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3943" y="832842"/>
            <a:ext cx="8196114" cy="445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Conclusion &amp; Future Scope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73943" y="1616720"/>
            <a:ext cx="3932858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73943" y="1974726"/>
            <a:ext cx="3932858" cy="1083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Verilog-based vending machine controller was </a:t>
            </a:r>
            <a:r>
              <a:rPr lang="en-US" sz="1050" b="1" dirty="0">
                <a:solidFill>
                  <a:srgbClr val="FFE5E5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successfully designed, implemented, and simulated</a:t>
            </a:r>
            <a:r>
              <a:rPr lang="en-US" sz="10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 All functional requirements coin acceptance, product selection, balance comparison, dispensing, change calculation, and display were verified across all test scenarios.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73943" y="3210520"/>
            <a:ext cx="1248594" cy="205680"/>
          </a:xfrm>
          <a:prstGeom prst="roundRect">
            <a:avLst>
              <a:gd name="adj" fmla="val 22121"/>
            </a:avLst>
          </a:prstGeom>
          <a:solidFill>
            <a:srgbClr val="460707"/>
          </a:solidFill>
          <a:ln/>
        </p:spPr>
      </p:sp>
      <p:sp>
        <p:nvSpPr>
          <p:cNvPr id="6" name="Text 4"/>
          <p:cNvSpPr/>
          <p:nvPr/>
        </p:nvSpPr>
        <p:spPr>
          <a:xfrm>
            <a:off x="555129" y="3251076"/>
            <a:ext cx="1543422" cy="1245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SIMULATION VERIFIED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790179" y="3210520"/>
            <a:ext cx="795263" cy="205680"/>
          </a:xfrm>
          <a:prstGeom prst="roundRect">
            <a:avLst>
              <a:gd name="adj" fmla="val 22121"/>
            </a:avLst>
          </a:prstGeom>
          <a:noFill/>
          <a:ln w="4763">
            <a:solidFill>
              <a:srgbClr val="C9131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71365" y="3251076"/>
            <a:ext cx="1090092" cy="1245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C9131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FPGA READY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741962" y="1616720"/>
            <a:ext cx="3932858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Current Enhancements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741962" y="2066181"/>
            <a:ext cx="67642" cy="67642"/>
          </a:xfrm>
          <a:prstGeom prst="ellipse">
            <a:avLst/>
          </a:prstGeom>
          <a:solidFill>
            <a:srgbClr val="C91313"/>
          </a:solidFill>
          <a:ln/>
        </p:spPr>
      </p:sp>
      <p:sp>
        <p:nvSpPr>
          <p:cNvPr id="11" name="Text 9"/>
          <p:cNvSpPr/>
          <p:nvPr/>
        </p:nvSpPr>
        <p:spPr>
          <a:xfrm>
            <a:off x="4944963" y="1991692"/>
            <a:ext cx="3729856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UPI / QR code &amp; NFC payment integration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41962" y="2553667"/>
            <a:ext cx="67642" cy="67642"/>
          </a:xfrm>
          <a:prstGeom prst="ellipse">
            <a:avLst/>
          </a:prstGeom>
          <a:solidFill>
            <a:srgbClr val="C91313"/>
          </a:solidFill>
          <a:ln/>
        </p:spPr>
      </p:sp>
      <p:sp>
        <p:nvSpPr>
          <p:cNvPr id="13" name="Text 11"/>
          <p:cNvSpPr/>
          <p:nvPr/>
        </p:nvSpPr>
        <p:spPr>
          <a:xfrm>
            <a:off x="4944963" y="2479179"/>
            <a:ext cx="3729856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LCD / TFT display with touchscreen UI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741962" y="3041154"/>
            <a:ext cx="67642" cy="67642"/>
          </a:xfrm>
          <a:prstGeom prst="ellipse">
            <a:avLst/>
          </a:prstGeom>
          <a:solidFill>
            <a:srgbClr val="C91313"/>
          </a:solidFill>
          <a:ln/>
        </p:spPr>
      </p:sp>
      <p:sp>
        <p:nvSpPr>
          <p:cNvPr id="15" name="Text 13"/>
          <p:cNvSpPr/>
          <p:nvPr/>
        </p:nvSpPr>
        <p:spPr>
          <a:xfrm>
            <a:off x="4944963" y="2966665"/>
            <a:ext cx="3729856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IoT-based remote monitoring &amp; analytics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41962" y="3528640"/>
            <a:ext cx="67642" cy="67642"/>
          </a:xfrm>
          <a:prstGeom prst="ellipse">
            <a:avLst/>
          </a:prstGeom>
          <a:solidFill>
            <a:srgbClr val="C91313"/>
          </a:solidFill>
          <a:ln/>
        </p:spPr>
      </p:sp>
      <p:sp>
        <p:nvSpPr>
          <p:cNvPr id="17" name="Text 15"/>
          <p:cNvSpPr/>
          <p:nvPr/>
        </p:nvSpPr>
        <p:spPr>
          <a:xfrm>
            <a:off x="4944963" y="3454152"/>
            <a:ext cx="3729856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Product inventory management system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41962" y="4016127"/>
            <a:ext cx="67642" cy="67642"/>
          </a:xfrm>
          <a:prstGeom prst="ellipse">
            <a:avLst/>
          </a:prstGeom>
          <a:solidFill>
            <a:srgbClr val="C91313"/>
          </a:solidFill>
          <a:ln/>
        </p:spPr>
      </p:sp>
      <p:sp>
        <p:nvSpPr>
          <p:cNvPr id="19" name="Text 17"/>
          <p:cNvSpPr/>
          <p:nvPr/>
        </p:nvSpPr>
        <p:spPr>
          <a:xfrm>
            <a:off x="4944963" y="3941638"/>
            <a:ext cx="3729856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Mobile app connectivity &amp; voice guidance</a:t>
            </a:r>
            <a:endParaRPr lang="en-US" sz="105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83B45CB3-9325-018A-2064-B8E64F55504D}"/>
                  </a:ext>
                </a:extLst>
              </p14:cNvPr>
              <p14:cNvContentPartPr/>
              <p14:nvPr/>
            </p14:nvContentPartPr>
            <p14:xfrm>
              <a:off x="8010667" y="4872536"/>
              <a:ext cx="982800" cy="17820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83B45CB3-9325-018A-2064-B8E64F55504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947667" y="4809896"/>
                <a:ext cx="1108440" cy="3038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863</Words>
  <Application>Microsoft Office PowerPoint</Application>
  <PresentationFormat>On-screen Show (16:9)</PresentationFormat>
  <Paragraphs>151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DM Sans</vt:lpstr>
      <vt:lpstr>DM Sans Bold</vt:lpstr>
      <vt:lpstr>Arial</vt:lpstr>
      <vt:lpstr>Dela Gothic One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Atharv Singh</dc:creator>
  <cp:lastModifiedBy>Atharv Singh</cp:lastModifiedBy>
  <cp:revision>8</cp:revision>
  <dcterms:created xsi:type="dcterms:W3CDTF">2026-07-16T08:28:49Z</dcterms:created>
  <dcterms:modified xsi:type="dcterms:W3CDTF">2026-07-17T05:23:57Z</dcterms:modified>
</cp:coreProperties>
</file>